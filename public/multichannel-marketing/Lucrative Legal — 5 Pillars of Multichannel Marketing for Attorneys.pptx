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  <p:embeddedFont>
      <p:font typeface="Hedvig Letters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6_Rocket_Launch_Dramatic_Flames_Smoke.png">    </p:cNvPr>
          <p:cNvPicPr>
            <a:picLocks noChangeAspect="1"/>
          </p:cNvPicPr>
          <p:nvPr/>
        </p:nvPicPr>
        <p:blipFill>
          <a:blip r:embed="rId1"/>
          <a:srcRect l="0" r="0" t="7786" b="778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5000"/>
                </a:srgbClr>
              </a:gs>
              <a:gs pos="40000">
                <a:srgbClr val="0D0B1A">
                  <a:alpha val="80000"/>
                </a:srgbClr>
              </a:gs>
              <a:gs pos="100000">
                <a:srgbClr val="0D0B1A">
                  <a:alpha val="95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318000" y="1524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8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23000" y="2540000"/>
            <a:ext cx="3810000" cy="406400"/>
          </a:xfrm>
          <a:prstGeom prst="roundRect">
            <a:avLst>
              <a:gd name="adj" fmla="val 16000"/>
            </a:avLst>
          </a:prstGeom>
          <a:solidFill>
            <a:srgbClr val="FFB60C">
              <a:alpha val="12549"/>
            </a:srgbClr>
          </a:solidFill>
          <a:ln w="12700">
            <a:solidFill>
              <a:srgbClr val="FFB60C">
                <a:alpha val="37647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3000" y="2540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ROCKET FUEL FOR YOUR FIRM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78000" y="3302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6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F056F4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 Pillars of Multichannel Marketing for Attorneys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48000" y="5334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source-grounded playbook synthesized from the Lucrative Legal series — how modern firms triple their caseload by running every channel as one connected system.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88000" y="7112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F056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 LEGAL · THE CONNECTED BLUEPRINT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40000" y="-1270000"/>
            <a:ext cx="10160000" cy="762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7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CONNECTED BLUEPRINT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508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8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683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pillars. One pipeline. Each plays a distinct role — none work as well alone as they do together.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080000"/>
            <a:ext cx="762000" cy="0"/>
          </a:xfrm>
          <a:prstGeom prst="straightConnector1">
            <a:avLst/>
          </a:prstGeom>
          <a:noFill/>
          <a:ln w="38100">
            <a:solidFill>
              <a:srgbClr val="FFB60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96000" y="1524000"/>
            <a:ext cx="2667000" cy="279400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 w="12700">
            <a:solidFill>
              <a:srgbClr val="F056F4">
                <a:alpha val="18824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0" y="1524000"/>
            <a:ext cx="2667000" cy="508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0" y="1841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056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2540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Search 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000" y="3238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17000" y="1524000"/>
            <a:ext cx="2667000" cy="279400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 w="12700">
            <a:solidFill>
              <a:srgbClr val="7C3AED">
                <a:alpha val="18824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7000" y="1524000"/>
            <a:ext cx="2667000" cy="50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271000" y="1841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7C3AE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2540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Ads (PPC)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1000" y="3238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 CAPTURE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938000" y="1524000"/>
            <a:ext cx="2667000" cy="279400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 w="12700">
            <a:solidFill>
              <a:srgbClr val="0BBFFF">
                <a:alpha val="18824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38000" y="1524000"/>
            <a:ext cx="2667000" cy="508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0" y="1841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BB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92000" y="2540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Service Ads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0" y="3238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6000" y="4572000"/>
            <a:ext cx="2667000" cy="279400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 w="12700">
            <a:solidFill>
              <a:srgbClr val="FFB60C">
                <a:alpha val="18824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6000" y="4572000"/>
            <a:ext cx="2667000" cy="508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29" name="Text 27"/>
          <p:cNvSpPr/>
          <p:nvPr/>
        </p:nvSpPr>
        <p:spPr>
          <a:xfrm>
            <a:off x="6350000" y="4889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0000" y="5588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Attorney SEO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0000" y="6286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17000" y="4572000"/>
            <a:ext cx="2667000" cy="2794000"/>
          </a:xfrm>
          <a:prstGeom prst="roundRect">
            <a:avLst>
              <a:gd name="adj" fmla="val 8000"/>
            </a:avLst>
          </a:prstGeom>
          <a:solidFill>
            <a:srgbClr val="1A1625"/>
          </a:solidFill>
          <a:ln w="12700">
            <a:solidFill>
              <a:srgbClr val="C071E0">
                <a:alpha val="18824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17000" y="4572000"/>
            <a:ext cx="2667000" cy="508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34" name="Text 32"/>
          <p:cNvSpPr/>
          <p:nvPr/>
        </p:nvSpPr>
        <p:spPr>
          <a:xfrm>
            <a:off x="9271000" y="48895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071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71000" y="5588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Intake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71000" y="62865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938000" y="5969000"/>
            <a:ext cx="2667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1938000" y="5588000"/>
            <a:ext cx="266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One connected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3_Abstract_technology_Ai_computin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4000"/>
                </a:srgbClr>
              </a:gs>
              <a:gs pos="50000">
                <a:srgbClr val="0D0B1A">
                  <a:alpha val="80000"/>
                </a:srgbClr>
              </a:gs>
              <a:gs pos="100000">
                <a:srgbClr val="0D0B1A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2540000" y="1270000"/>
            <a:ext cx="10160000" cy="635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8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F056F4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064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New Pipeline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case pipeline has changed. Single-channel marketing can't keep up.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FFB60C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0" y="-1270000"/>
            <a:ext cx="8890000" cy="635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3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PREMISE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778000"/>
            <a:ext cx="889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40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case pipeline has changed. Single-channel marketing can't keep up.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064000"/>
            <a:ext cx="787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Prospective clients no longer move in a straight line from search to retainer. They cross AI answers, search results, map packs, ads, reviews, and finally an intake — and silently drop off wherever the experience breaks.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firms that win run all five surfaces as one connected pipeline. Fragmentation kills conversions. Integration drives growth.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2000" y="1778000"/>
            <a:ext cx="5842000" cy="5588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0" y="2159000"/>
            <a:ext cx="4826000" cy="635000"/>
          </a:xfrm>
          <a:prstGeom prst="roundRect">
            <a:avLst>
              <a:gd name="adj" fmla="val 8000"/>
            </a:avLst>
          </a:prstGeom>
          <a:solidFill>
            <a:srgbClr val="F056F4">
              <a:alpha val="12549"/>
            </a:srgbClr>
          </a:solidFill>
          <a:ln w="12700">
            <a:solidFill>
              <a:srgbClr val="F056F4">
                <a:alpha val="37647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0" y="2159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056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Answers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Shortlists form here first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573000" y="2794000"/>
            <a:ext cx="0" cy="254000"/>
          </a:xfrm>
          <a:prstGeom prst="straightConnector1">
            <a:avLst/>
          </a:prstGeom>
          <a:noFill/>
          <a:ln w="25400">
            <a:solidFill>
              <a:srgbClr val="2D264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160000" y="3048000"/>
            <a:ext cx="4826000" cy="635000"/>
          </a:xfrm>
          <a:prstGeom prst="roundRect">
            <a:avLst>
              <a:gd name="adj" fmla="val 8000"/>
            </a:avLst>
          </a:prstGeom>
          <a:solidFill>
            <a:srgbClr val="7C3AED">
              <a:alpha val="12549"/>
            </a:srgbClr>
          </a:solidFill>
          <a:ln w="12700">
            <a:solidFill>
              <a:srgbClr val="7C3AED">
                <a:alpha val="37647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0" y="3048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Search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Intent at the moment of need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573000" y="3683000"/>
            <a:ext cx="0" cy="254000"/>
          </a:xfrm>
          <a:prstGeom prst="straightConnector1">
            <a:avLst/>
          </a:prstGeom>
          <a:noFill/>
          <a:ln w="25400">
            <a:solidFill>
              <a:srgbClr val="2D2640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160000" y="3937000"/>
            <a:ext cx="4826000" cy="635000"/>
          </a:xfrm>
          <a:prstGeom prst="roundRect">
            <a:avLst>
              <a:gd name="adj" fmla="val 8000"/>
            </a:avLst>
          </a:prstGeom>
          <a:solidFill>
            <a:srgbClr val="0BBFFF">
              <a:alpha val="12549"/>
            </a:srgbClr>
          </a:solidFill>
          <a:ln w="12700">
            <a:solidFill>
              <a:srgbClr val="0BBFFF">
                <a:alpha val="37647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0" y="3937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BB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Ads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Verified + reviewed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73000" y="4572000"/>
            <a:ext cx="0" cy="254000"/>
          </a:xfrm>
          <a:prstGeom prst="straightConnector1">
            <a:avLst/>
          </a:prstGeom>
          <a:noFill/>
          <a:ln w="25400">
            <a:solidFill>
              <a:srgbClr val="2D264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160000" y="4826000"/>
            <a:ext cx="4826000" cy="635000"/>
          </a:xfrm>
          <a:prstGeom prst="roundRect">
            <a:avLst>
              <a:gd name="adj" fmla="val 8000"/>
            </a:avLst>
          </a:prstGeom>
          <a:solidFill>
            <a:srgbClr val="FFB60C">
              <a:alpha val="12549"/>
            </a:srgbClr>
          </a:solidFill>
          <a:ln w="12700">
            <a:solidFill>
              <a:srgbClr val="FFB60C">
                <a:alpha val="37647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0" y="4826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Organic SEO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The compounding base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573000" y="5461000"/>
            <a:ext cx="0" cy="254000"/>
          </a:xfrm>
          <a:prstGeom prst="straightConnector1">
            <a:avLst/>
          </a:prstGeom>
          <a:noFill/>
          <a:ln w="25400">
            <a:solidFill>
              <a:srgbClr val="2D2640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160000" y="5715000"/>
            <a:ext cx="4826000" cy="635000"/>
          </a:xfrm>
          <a:prstGeom prst="roundRect">
            <a:avLst>
              <a:gd name="adj" fmla="val 8000"/>
            </a:avLst>
          </a:prstGeom>
          <a:solidFill>
            <a:srgbClr val="C071E0">
              <a:alpha val="12549"/>
            </a:srgbClr>
          </a:solidFill>
          <a:ln w="12700">
            <a:solidFill>
              <a:srgbClr val="C071E0">
                <a:alpha val="37647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0" y="5715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071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Intake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The conversion bridge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0" y="6604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Signed Retainer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00" y="2540000"/>
            <a:ext cx="6350000" cy="508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6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587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Five pillars. One pipeline.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413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pillar plays a distinct role — discovery, intent capture, trust, authority, and conversion. None of them work as well alone as they do together.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937000"/>
            <a:ext cx="2692400" cy="3302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F056F4">
                <a:alpha val="25098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3937000"/>
            <a:ext cx="2692400" cy="381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4254500"/>
            <a:ext cx="218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056F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Search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715000"/>
            <a:ext cx="218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096000"/>
            <a:ext cx="2184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shortlists form before search loads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8400" y="3937000"/>
            <a:ext cx="2692400" cy="3302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7C3AED">
                <a:alpha val="2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8400" y="3937000"/>
            <a:ext cx="2692400" cy="381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962400" y="4254500"/>
            <a:ext cx="218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7C3AE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624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Ads (PPC)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62400" y="5715000"/>
            <a:ext cx="218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 CAPTURE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62400" y="6096000"/>
            <a:ext cx="2184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Buying intent at the moment of need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54800" y="3937000"/>
            <a:ext cx="2692400" cy="3302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0BBFFF">
                <a:alpha val="25098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4800" y="3937000"/>
            <a:ext cx="2692400" cy="381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908800" y="4254500"/>
            <a:ext cx="218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BB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88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Service Ads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8800" y="5715000"/>
            <a:ext cx="218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8800" y="6096000"/>
            <a:ext cx="2184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verification beats ranking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0" y="3937000"/>
            <a:ext cx="2692400" cy="3302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FFB60C">
                <a:alpha val="25098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3937000"/>
            <a:ext cx="2692400" cy="381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31" name="Text 29"/>
          <p:cNvSpPr/>
          <p:nvPr/>
        </p:nvSpPr>
        <p:spPr>
          <a:xfrm>
            <a:off x="9855200" y="4254500"/>
            <a:ext cx="218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552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Attorney SEO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55200" y="5715000"/>
            <a:ext cx="218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55200" y="6096000"/>
            <a:ext cx="2184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base that builds moats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547600" y="3937000"/>
            <a:ext cx="2692400" cy="3302000"/>
          </a:xfrm>
          <a:prstGeom prst="roundRect">
            <a:avLst>
              <a:gd name="adj" fmla="val 6000"/>
            </a:avLst>
          </a:prstGeom>
          <a:solidFill>
            <a:srgbClr val="1A1625"/>
          </a:solidFill>
          <a:ln w="12700">
            <a:solidFill>
              <a:srgbClr val="C071E0">
                <a:alpha val="25098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47600" y="3937000"/>
            <a:ext cx="2692400" cy="381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37" name="Text 35"/>
          <p:cNvSpPr/>
          <p:nvPr/>
        </p:nvSpPr>
        <p:spPr>
          <a:xfrm>
            <a:off x="12801600" y="4254500"/>
            <a:ext cx="21844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071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801600" y="5016500"/>
            <a:ext cx="218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Intake Systems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801600" y="5715000"/>
            <a:ext cx="2184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spc="100" kern="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01600" y="6096000"/>
            <a:ext cx="218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bridge — or the leak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7747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When all five run as one system, caseload compounds.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8_Artificial_Intelligence_Web_B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4000"/>
                </a:srgbClr>
              </a:gs>
              <a:gs pos="50000">
                <a:srgbClr val="0D0B1A">
                  <a:alpha val="80000"/>
                </a:srgbClr>
              </a:gs>
              <a:gs pos="100000">
                <a:srgbClr val="0D0B1A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2540000" y="1270000"/>
            <a:ext cx="10160000" cy="6350000"/>
          </a:xfrm>
          <a:prstGeom prst="ellipse">
            <a:avLst/>
          </a:prstGeom>
          <a:gradFill rotWithShape="1" flip="none">
            <a:gsLst>
              <a:gs pos="0">
                <a:srgbClr val="F056F4">
                  <a:alpha val="8000"/>
                </a:srgbClr>
              </a:gs>
              <a:gs pos="100000">
                <a:srgbClr val="F056F4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F056F4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Search Visibility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4953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shortlists are now formed before traditional search even loads.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F056F4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000" y="-635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F056F4">
                  <a:alpha val="6000"/>
                </a:srgbClr>
              </a:gs>
              <a:gs pos="100000">
                <a:srgbClr val="F056F4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056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01 · DISCOVERY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651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Show up where the answer is given.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assistants and LLM-powered search return condensed, opinionated answers. Firms that aren't cited in those responses are filtered out before the client ever opens a results page.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62000" cy="0"/>
          </a:xfrm>
          <a:prstGeom prst="straightConnector1">
            <a:avLst/>
          </a:prstGeom>
          <a:noFill/>
          <a:ln w="38100">
            <a:solidFill>
              <a:srgbClr val="F056F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66000" y="11430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000" y="1143000"/>
            <a:ext cx="50800" cy="13970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14" name="Text 12"/>
          <p:cNvSpPr/>
          <p:nvPr/>
        </p:nvSpPr>
        <p:spPr>
          <a:xfrm>
            <a:off x="7670800" y="12700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Inclusion in LLM answers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800" y="16764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one of the 3–5 firms named when a model summarizes "best [practice area] attorney near me."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7432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0" y="2743200"/>
            <a:ext cx="50800" cy="13970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18" name="Text 16"/>
          <p:cNvSpPr/>
          <p:nvPr/>
        </p:nvSpPr>
        <p:spPr>
          <a:xfrm>
            <a:off x="7670800" y="28702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Structured, query-aligned content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0800" y="32766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 clusters, schema, and clarity that models can extract and repackage cleanly.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0" y="43434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6000" y="4343400"/>
            <a:ext cx="50800" cy="13970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22" name="Text 20"/>
          <p:cNvSpPr/>
          <p:nvPr/>
        </p:nvSpPr>
        <p:spPr>
          <a:xfrm>
            <a:off x="7670800" y="44704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 &amp; trust signals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0800" y="48768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Citations, mentions, and editorial linkages that make a model confident enough to recommend you.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59436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6000" y="5943600"/>
            <a:ext cx="50800" cy="1397000"/>
          </a:xfrm>
          <a:prstGeom prst="rect">
            <a:avLst/>
          </a:prstGeom>
          <a:solidFill>
            <a:srgbClr val="F056F4"/>
          </a:solidFill>
          <a:ln/>
        </p:spPr>
      </p:sp>
      <p:sp>
        <p:nvSpPr>
          <p:cNvPr id="26" name="Text 24"/>
          <p:cNvSpPr/>
          <p:nvPr/>
        </p:nvSpPr>
        <p:spPr>
          <a:xfrm>
            <a:off x="7670800" y="60706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Cross-platform reinforcement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800" y="64770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presence across discovery surfaces compounds AI visibility over time.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7_507_Google_Search_Dark_Royalty_Free.png">    </p:cNvPr>
          <p:cNvPicPr>
            <a:picLocks noChangeAspect="1"/>
          </p:cNvPicPr>
          <p:nvPr/>
        </p:nvPicPr>
        <p:blipFill>
          <a:blip r:embed="rId1"/>
          <a:srcRect l="0" r="0" t="10826" b="1082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4000"/>
                </a:srgbClr>
              </a:gs>
              <a:gs pos="50000">
                <a:srgbClr val="0D0B1A">
                  <a:alpha val="80000"/>
                </a:srgbClr>
              </a:gs>
              <a:gs pos="100000">
                <a:srgbClr val="0D0B1A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2540000" y="1270000"/>
            <a:ext cx="10160000" cy="635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8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Google Ads (PPC)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4953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Buying intent at the moment a prospect is ready to call.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000" y="-635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6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02 · INTENT CAPTURE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651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Catch the click that's already ready to retain.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search is the only channel where you can be present, on top, for the exact phrase a prospect types in their moment of need. The discipline is keeping cost-per-signed-case predictable.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62000" cy="0"/>
          </a:xfrm>
          <a:prstGeom prst="straightConnector1">
            <a:avLst/>
          </a:prstGeom>
          <a:noFill/>
          <a:ln w="38100">
            <a:solidFill>
              <a:srgbClr val="7C3AE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66000" y="11430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000" y="1143000"/>
            <a:ext cx="50800" cy="1397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670800" y="12700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High-intent query capture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800" y="16764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the phrases that signal urgency over volume.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7432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0" y="2743200"/>
            <a:ext cx="50800" cy="1397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670800" y="28702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Landing page experience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0800" y="32766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ad-to-page promise has to survive the click — message match, speed, and conversion path matter as much as bid.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0" y="43434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6000" y="4343400"/>
            <a:ext cx="50800" cy="1397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670800" y="44704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Disciplined cost control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0800" y="48768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 caps, audience filtering, negative keywords. The cost-per-lead floor is a function of the pipeline beneath the ad.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59436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6000" y="5943600"/>
            <a:ext cx="50800" cy="1397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670800" y="60706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tracking loop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800" y="64770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Closed-loop attribution from click to signed case, so spend follows what actually works.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1_77_646_Customer_Dark_Background_Royalty.png">    </p:cNvPr>
          <p:cNvPicPr>
            <a:picLocks noChangeAspect="1"/>
          </p:cNvPicPr>
          <p:nvPr/>
        </p:nvPicPr>
        <p:blipFill>
          <a:blip r:embed="rId1"/>
          <a:srcRect l="0" r="0" t="12666" b="1266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4000"/>
                </a:srgbClr>
              </a:gs>
              <a:gs pos="50000">
                <a:srgbClr val="0D0B1A">
                  <a:alpha val="80000"/>
                </a:srgbClr>
              </a:gs>
              <a:gs pos="100000">
                <a:srgbClr val="0D0B1A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2540000" y="1270000"/>
            <a:ext cx="10160000" cy="6350000"/>
          </a:xfrm>
          <a:prstGeom prst="ellipse">
            <a:avLst/>
          </a:prstGeom>
          <a:gradFill rotWithShape="1" flip="none">
            <a:gsLst>
              <a:gs pos="0">
                <a:srgbClr val="0BBFFF">
                  <a:alpha val="8000"/>
                </a:srgbClr>
              </a:gs>
              <a:gs pos="100000">
                <a:srgbClr val="0BBFFF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0BBFFF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Local Service Ads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4953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verification and reviews beat ranking position.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0BB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000" y="-635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0BBFFF">
                  <a:alpha val="6000"/>
                </a:srgbClr>
              </a:gs>
              <a:gs pos="100000">
                <a:srgbClr val="0BBFFF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0BB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03 · TRUST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651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Trust is the bid currency.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LSAs short-circuit the SEO/ad ranking game and put verified, well-reviewed firms in front of high-intent local search. Reputation is the leverage point — firms with weak review velocity lose this surface.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62000" cy="0"/>
          </a:xfrm>
          <a:prstGeom prst="straightConnector1">
            <a:avLst/>
          </a:prstGeom>
          <a:noFill/>
          <a:ln w="38100">
            <a:solidFill>
              <a:srgbClr val="0BBFFF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66000" y="11430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000" y="1143000"/>
            <a:ext cx="50800" cy="13970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70800" y="12700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Reputation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800" y="16764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live review program, not a one-time push.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7432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0" y="2743200"/>
            <a:ext cx="50800" cy="13970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670800" y="28702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Verified status signals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0800" y="32766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Screened &amp; license verification — the trust badges that drive click-through.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0" y="43434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6000" y="4343400"/>
            <a:ext cx="50800" cy="13970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70800" y="44704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consistency &amp; recency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0800" y="48768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4.9 from three years ago beats nothing, but loses to a 4.7 from this month.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59436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6000" y="5943600"/>
            <a:ext cx="50800" cy="1397000"/>
          </a:xfrm>
          <a:prstGeom prst="rect">
            <a:avLst/>
          </a:prstGeom>
          <a:solidFill>
            <a:srgbClr val="0BB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670800" y="60706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contact options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800" y="64770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Click-to-call from the LSA listing — friction collapses to a phone number.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0" y="635000"/>
            <a:ext cx="8890000" cy="762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7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-1270000" y="2540000"/>
            <a:ext cx="6350000" cy="5080000"/>
          </a:xfrm>
          <a:prstGeom prst="ellipse">
            <a:avLst/>
          </a:prstGeom>
          <a:gradFill rotWithShape="1" flip="none">
            <a:gsLst>
              <a:gs pos="0">
                <a:srgbClr val="7C3AED">
                  <a:alpha val="6000"/>
                </a:srgbClr>
              </a:gs>
              <a:gs pos="100000">
                <a:srgbClr val="7C3AED">
                  <a:alpha val="0"/>
                </a:srgbClr>
              </a:gs>
            </a:gsLst>
            <a:path path="circle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7C3AED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Attorney SEO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953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compounding base — branded recognition built from substantive content.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FFB60C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000" y="-635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6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04 · AUTHORITY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651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asset that compounds.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surfaces stop the moment spend stops. Organic visibility compounds — every piece of content makes the next one rank faster, and branded search becomes the long-term moat.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34000"/>
            <a:ext cx="762000" cy="0"/>
          </a:xfrm>
          <a:prstGeom prst="straightConnector1">
            <a:avLst/>
          </a:prstGeom>
          <a:noFill/>
          <a:ln w="38100">
            <a:solidFill>
              <a:srgbClr val="FFB60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66000" y="11430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000" y="1143000"/>
            <a:ext cx="50800" cy="13970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14" name="Text 12"/>
          <p:cNvSpPr/>
          <p:nvPr/>
        </p:nvSpPr>
        <p:spPr>
          <a:xfrm>
            <a:off x="7670800" y="12700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search rankings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800" y="16764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Relevance + authority = position. Both have to be earned.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7432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0" y="2743200"/>
            <a:ext cx="50800" cy="13970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18" name="Text 16"/>
          <p:cNvSpPr/>
          <p:nvPr/>
        </p:nvSpPr>
        <p:spPr>
          <a:xfrm>
            <a:off x="7670800" y="28702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relevance &amp; depth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0800" y="32766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Substantive guidance, not thin pages — that's what aligns with how prospects actually research.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0" y="43434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6000" y="4343400"/>
            <a:ext cx="50800" cy="13970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22" name="Text 20"/>
          <p:cNvSpPr/>
          <p:nvPr/>
        </p:nvSpPr>
        <p:spPr>
          <a:xfrm>
            <a:off x="7670800" y="44704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Branded search visibility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0800" y="48768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conversion wins quietly here: prospects who already know the firm convert at a far higher rate.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59436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6000" y="5943600"/>
            <a:ext cx="50800" cy="1397000"/>
          </a:xfrm>
          <a:prstGeom prst="rect">
            <a:avLst/>
          </a:prstGeom>
          <a:solidFill>
            <a:srgbClr val="FFB60C"/>
          </a:solidFill>
          <a:ln/>
        </p:spPr>
      </p:sp>
      <p:sp>
        <p:nvSpPr>
          <p:cNvPr id="26" name="Text 24"/>
          <p:cNvSpPr/>
          <p:nvPr/>
        </p:nvSpPr>
        <p:spPr>
          <a:xfrm>
            <a:off x="7670800" y="60706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interaction patterns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800" y="64770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 signals (dwell, depth, return) feed back into rankings.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0" y="635000"/>
            <a:ext cx="8890000" cy="7620000"/>
          </a:xfrm>
          <a:prstGeom prst="ellipse">
            <a:avLst/>
          </a:prstGeom>
          <a:gradFill rotWithShape="1" flip="none">
            <a:gsLst>
              <a:gs pos="0">
                <a:srgbClr val="C071E0">
                  <a:alpha val="7000"/>
                </a:srgbClr>
              </a:gs>
              <a:gs pos="100000">
                <a:srgbClr val="C071E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540000"/>
            <a:ext cx="38100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C071E0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06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Intake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953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conversion bridge — silent lead loss happens here.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588000"/>
            <a:ext cx="1016000" cy="0"/>
          </a:xfrm>
          <a:prstGeom prst="straightConnector1">
            <a:avLst/>
          </a:prstGeom>
          <a:noFill/>
          <a:ln w="38100">
            <a:solidFill>
              <a:srgbClr val="C071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000" y="-635000"/>
            <a:ext cx="7620000" cy="5080000"/>
          </a:xfrm>
          <a:prstGeom prst="ellipse">
            <a:avLst/>
          </a:prstGeom>
          <a:gradFill rotWithShape="1" flip="none">
            <a:gsLst>
              <a:gs pos="0">
                <a:srgbClr val="C071E0">
                  <a:alpha val="6000"/>
                </a:srgbClr>
              </a:gs>
              <a:gs pos="100000">
                <a:srgbClr val="C071E0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C071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PILLAR 05 · CONVERSION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651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36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bridge — or the leak.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02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dollar spent on the first four pillars hits a single human moment: the intake. A fragmented intake — slow callbacks, inconsistent qualification, dropped channels — silently undoes the rest of the pipeline.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588000"/>
            <a:ext cx="762000" cy="0"/>
          </a:xfrm>
          <a:prstGeom prst="straightConnector1">
            <a:avLst/>
          </a:prstGeom>
          <a:noFill/>
          <a:ln w="38100">
            <a:solidFill>
              <a:srgbClr val="C071E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66000" y="11430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000" y="1143000"/>
            <a:ext cx="50800" cy="13970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14" name="Text 12"/>
          <p:cNvSpPr/>
          <p:nvPr/>
        </p:nvSpPr>
        <p:spPr>
          <a:xfrm>
            <a:off x="7670800" y="12700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24/7/365 lead support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70800" y="16764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After-hours and weekend leads are where competitors miss. Coverage is conversion.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7432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0" y="2743200"/>
            <a:ext cx="50800" cy="13970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70800" y="28702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speed standards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70800" y="32766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momentum decays in minutes, not days. The first response wins.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6000" y="43434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6000" y="4343400"/>
            <a:ext cx="50800" cy="13970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22" name="Text 20"/>
          <p:cNvSpPr/>
          <p:nvPr/>
        </p:nvSpPr>
        <p:spPr>
          <a:xfrm>
            <a:off x="7670800" y="44704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Multi-channel coordination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0800" y="48768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Phone, web form, chat, SMS — one record, one experience, no dropped handoffs.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6000" y="5943600"/>
            <a:ext cx="8128000" cy="1397000"/>
          </a:xfrm>
          <a:prstGeom prst="roundRect">
            <a:avLst>
              <a:gd name="adj" fmla="val 4000"/>
            </a:avLst>
          </a:prstGeom>
          <a:solidFill>
            <a:srgbClr val="1A1625"/>
          </a:solidFill>
          <a:ln w="12700">
            <a:solidFill>
              <a:srgbClr val="2D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6000" y="5943600"/>
            <a:ext cx="50800" cy="1397000"/>
          </a:xfrm>
          <a:prstGeom prst="rect">
            <a:avLst/>
          </a:prstGeom>
          <a:solidFill>
            <a:srgbClr val="C071E0"/>
          </a:solidFill>
          <a:ln/>
        </p:spPr>
      </p:sp>
      <p:sp>
        <p:nvSpPr>
          <p:cNvPr id="26" name="Text 24"/>
          <p:cNvSpPr/>
          <p:nvPr/>
        </p:nvSpPr>
        <p:spPr>
          <a:xfrm>
            <a:off x="7670800" y="6070600"/>
            <a:ext cx="7569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qualification accuracy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70800" y="6477000"/>
            <a:ext cx="756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Targeted intake questions, structured framing, and centralized data so attorneys see signal, not noise.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0" y="-1270000"/>
            <a:ext cx="10160000" cy="508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3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0D0B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143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0F0F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this unlocks for the firm.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0320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all five pillars run as one system — not five disconnected vendors — caseload, lead quality, pipeline reliability, and ROI all move together.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3429000" cy="381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B60C">
                  <a:alpha val="8000"/>
                </a:srgbClr>
              </a:gs>
              <a:gs pos="100000">
                <a:srgbClr val="F056F4">
                  <a:alpha val="3000"/>
                </a:srgbClr>
              </a:gs>
            </a:gsLst>
            <a:lin ang="8100000" scaled="1"/>
          </a:gradFill>
          <a:ln w="12700">
            <a:solidFill>
              <a:srgbClr val="FFB60C">
                <a:alpha val="25098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425" y="3683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42875"/>
                </a:moveTo>
                <a:cubicBezTo>
                  <a:pt x="327094" y="142875"/>
                  <a:pt x="314325" y="130106"/>
                  <a:pt x="314325" y="114300"/>
                </a:cubicBezTo>
                <a:cubicBezTo>
                  <a:pt x="314325" y="98494"/>
                  <a:pt x="327094" y="85725"/>
                  <a:pt x="342900" y="85725"/>
                </a:cubicBezTo>
                <a:lnTo>
                  <a:pt x="485775" y="85725"/>
                </a:lnTo>
                <a:cubicBezTo>
                  <a:pt x="501581" y="85725"/>
                  <a:pt x="514350" y="98494"/>
                  <a:pt x="514350" y="114300"/>
                </a:cubicBezTo>
                <a:lnTo>
                  <a:pt x="514350" y="257175"/>
                </a:lnTo>
                <a:cubicBezTo>
                  <a:pt x="514350" y="272981"/>
                  <a:pt x="501581" y="285750"/>
                  <a:pt x="485775" y="285750"/>
                </a:cubicBezTo>
                <a:cubicBezTo>
                  <a:pt x="469969" y="285750"/>
                  <a:pt x="457200" y="272981"/>
                  <a:pt x="457200" y="257175"/>
                </a:cubicBezTo>
                <a:lnTo>
                  <a:pt x="457200" y="183326"/>
                </a:lnTo>
                <a:lnTo>
                  <a:pt x="305931" y="334595"/>
                </a:lnTo>
                <a:cubicBezTo>
                  <a:pt x="294769" y="345758"/>
                  <a:pt x="276642" y="345758"/>
                  <a:pt x="265480" y="334595"/>
                </a:cubicBezTo>
                <a:lnTo>
                  <a:pt x="171450" y="240476"/>
                </a:lnTo>
                <a:lnTo>
                  <a:pt x="48756" y="363081"/>
                </a:lnTo>
                <a:cubicBezTo>
                  <a:pt x="37594" y="374243"/>
                  <a:pt x="19467" y="374243"/>
                  <a:pt x="8305" y="363081"/>
                </a:cubicBezTo>
                <a:cubicBezTo>
                  <a:pt x="-2857" y="351919"/>
                  <a:pt x="-2857" y="333792"/>
                  <a:pt x="8305" y="322630"/>
                </a:cubicBezTo>
                <a:lnTo>
                  <a:pt x="151180" y="179755"/>
                </a:lnTo>
                <a:cubicBezTo>
                  <a:pt x="162342" y="168593"/>
                  <a:pt x="180469" y="168593"/>
                  <a:pt x="191631" y="179755"/>
                </a:cubicBezTo>
                <a:lnTo>
                  <a:pt x="285750" y="273874"/>
                </a:lnTo>
                <a:lnTo>
                  <a:pt x="416749" y="1428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FFB60C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31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953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Increased Case Volume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461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Coordinated visibility across discovery surfaces compounds lead flow.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0" y="3302000"/>
            <a:ext cx="3429000" cy="381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B60C">
                  <a:alpha val="8000"/>
                </a:srgbClr>
              </a:gs>
              <a:gs pos="100000">
                <a:srgbClr val="F056F4">
                  <a:alpha val="3000"/>
                </a:srgbClr>
              </a:gs>
            </a:gsLst>
            <a:lin ang="8100000" scaled="1"/>
          </a:gradFill>
          <a:ln w="12700">
            <a:solidFill>
              <a:srgbClr val="FFB60C">
                <a:alpha val="25098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0425" y="3683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  <a:solidFill>
            <a:srgbClr val="FFB60C"/>
          </a:solidFill>
          <a:ln/>
        </p:spPr>
      </p:sp>
      <p:sp>
        <p:nvSpPr>
          <p:cNvPr id="17" name="Text 15"/>
          <p:cNvSpPr/>
          <p:nvPr/>
        </p:nvSpPr>
        <p:spPr>
          <a:xfrm>
            <a:off x="4699000" y="431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99000" y="4953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Higher Lead Quality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9000" y="5461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Intent-matched targeting and qualified intakes raise the floor on every signed case.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3302000"/>
            <a:ext cx="3429000" cy="381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B60C">
                  <a:alpha val="8000"/>
                </a:srgbClr>
              </a:gs>
              <a:gs pos="100000">
                <a:srgbClr val="F056F4">
                  <a:alpha val="3000"/>
                </a:srgbClr>
              </a:gs>
            </a:gsLst>
            <a:lin ang="8100000" scaled="1"/>
          </a:gradFill>
          <a:ln w="12700">
            <a:solidFill>
              <a:srgbClr val="FFB60C">
                <a:alpha val="25098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4850" y="3683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0" y="228600"/>
                </a:moveTo>
                <a:cubicBezTo>
                  <a:pt x="0" y="149662"/>
                  <a:pt x="63937" y="85725"/>
                  <a:pt x="142875" y="85725"/>
                </a:cubicBezTo>
                <a:cubicBezTo>
                  <a:pt x="187881" y="85725"/>
                  <a:pt x="230207" y="106888"/>
                  <a:pt x="257175" y="142875"/>
                </a:cubicBezTo>
                <a:lnTo>
                  <a:pt x="285750" y="181005"/>
                </a:lnTo>
                <a:lnTo>
                  <a:pt x="314325" y="142875"/>
                </a:lnTo>
                <a:cubicBezTo>
                  <a:pt x="341293" y="106888"/>
                  <a:pt x="383619" y="85725"/>
                  <a:pt x="428625" y="85725"/>
                </a:cubicBezTo>
                <a:cubicBezTo>
                  <a:pt x="507563" y="85725"/>
                  <a:pt x="571500" y="149662"/>
                  <a:pt x="571500" y="228600"/>
                </a:cubicBezTo>
                <a:cubicBezTo>
                  <a:pt x="571500" y="307538"/>
                  <a:pt x="507563" y="371475"/>
                  <a:pt x="428625" y="371475"/>
                </a:cubicBezTo>
                <a:cubicBezTo>
                  <a:pt x="383619" y="371475"/>
                  <a:pt x="341293" y="350312"/>
                  <a:pt x="314325" y="314325"/>
                </a:cubicBezTo>
                <a:lnTo>
                  <a:pt x="285750" y="276195"/>
                </a:lnTo>
                <a:lnTo>
                  <a:pt x="257175" y="314325"/>
                </a:lnTo>
                <a:cubicBezTo>
                  <a:pt x="230207" y="350312"/>
                  <a:pt x="187881" y="371475"/>
                  <a:pt x="142875" y="371475"/>
                </a:cubicBezTo>
                <a:cubicBezTo>
                  <a:pt x="63937" y="371475"/>
                  <a:pt x="0" y="307538"/>
                  <a:pt x="0" y="228600"/>
                </a:cubicBezTo>
                <a:close/>
                <a:moveTo>
                  <a:pt x="250031" y="228600"/>
                </a:moveTo>
                <a:lnTo>
                  <a:pt x="211455" y="177165"/>
                </a:lnTo>
                <a:cubicBezTo>
                  <a:pt x="195292" y="155555"/>
                  <a:pt x="169843" y="142875"/>
                  <a:pt x="142875" y="142875"/>
                </a:cubicBezTo>
                <a:cubicBezTo>
                  <a:pt x="95548" y="142875"/>
                  <a:pt x="57150" y="181273"/>
                  <a:pt x="57150" y="228600"/>
                </a:cubicBezTo>
                <a:cubicBezTo>
                  <a:pt x="57150" y="275927"/>
                  <a:pt x="95548" y="314325"/>
                  <a:pt x="142875" y="314325"/>
                </a:cubicBezTo>
                <a:cubicBezTo>
                  <a:pt x="169843" y="314325"/>
                  <a:pt x="195292" y="301645"/>
                  <a:pt x="211455" y="280035"/>
                </a:cubicBezTo>
                <a:lnTo>
                  <a:pt x="250031" y="228600"/>
                </a:lnTo>
                <a:close/>
                <a:moveTo>
                  <a:pt x="321469" y="228600"/>
                </a:moveTo>
                <a:lnTo>
                  <a:pt x="360045" y="280035"/>
                </a:lnTo>
                <a:cubicBezTo>
                  <a:pt x="376208" y="301645"/>
                  <a:pt x="401657" y="314325"/>
                  <a:pt x="428625" y="314325"/>
                </a:cubicBezTo>
                <a:cubicBezTo>
                  <a:pt x="475952" y="314325"/>
                  <a:pt x="514350" y="275927"/>
                  <a:pt x="514350" y="228600"/>
                </a:cubicBezTo>
                <a:cubicBezTo>
                  <a:pt x="514350" y="181273"/>
                  <a:pt x="475952" y="142875"/>
                  <a:pt x="428625" y="142875"/>
                </a:cubicBezTo>
                <a:cubicBezTo>
                  <a:pt x="401657" y="142875"/>
                  <a:pt x="376208" y="155555"/>
                  <a:pt x="360045" y="177165"/>
                </a:cubicBezTo>
                <a:lnTo>
                  <a:pt x="321469" y="228600"/>
                </a:lnTo>
                <a:close/>
              </a:path>
            </a:pathLst>
          </a:custGeom>
          <a:solidFill>
            <a:srgbClr val="FFB60C"/>
          </a:solidFill>
          <a:ln/>
        </p:spPr>
      </p:sp>
      <p:sp>
        <p:nvSpPr>
          <p:cNvPr id="22" name="Text 20"/>
          <p:cNvSpPr/>
          <p:nvPr/>
        </p:nvSpPr>
        <p:spPr>
          <a:xfrm>
            <a:off x="8382000" y="431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∞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4953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Pipeline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5461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diversification removes single-source dependency and seasonality risk.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811000" y="3302000"/>
            <a:ext cx="3429000" cy="381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B60C">
                  <a:alpha val="8000"/>
                </a:srgbClr>
              </a:gs>
              <a:gs pos="100000">
                <a:srgbClr val="F056F4">
                  <a:alpha val="3000"/>
                </a:srgbClr>
              </a:gs>
            </a:gsLst>
            <a:lin ang="8100000" scaled="1"/>
          </a:gradFill>
          <a:ln w="12700">
            <a:solidFill>
              <a:srgbClr val="FFB60C">
                <a:alpha val="25098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150725" y="36830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21444" y="21431"/>
                </a:moveTo>
                <a:cubicBezTo>
                  <a:pt x="121444" y="9555"/>
                  <a:pt x="130999" y="0"/>
                  <a:pt x="142875" y="0"/>
                </a:cubicBezTo>
                <a:cubicBezTo>
                  <a:pt x="154751" y="0"/>
                  <a:pt x="164306" y="9555"/>
                  <a:pt x="164306" y="21431"/>
                </a:cubicBezTo>
                <a:lnTo>
                  <a:pt x="164306" y="57150"/>
                </a:lnTo>
                <a:lnTo>
                  <a:pt x="214313" y="57150"/>
                </a:lnTo>
                <a:cubicBezTo>
                  <a:pt x="230118" y="57150"/>
                  <a:pt x="242888" y="69919"/>
                  <a:pt x="242888" y="85725"/>
                </a:cubicBezTo>
                <a:cubicBezTo>
                  <a:pt x="242888" y="101531"/>
                  <a:pt x="230118" y="114300"/>
                  <a:pt x="214313" y="114300"/>
                </a:cubicBezTo>
                <a:lnTo>
                  <a:pt x="111710" y="114300"/>
                </a:lnTo>
                <a:cubicBezTo>
                  <a:pt x="89475" y="114300"/>
                  <a:pt x="71438" y="132338"/>
                  <a:pt x="71438" y="154573"/>
                </a:cubicBezTo>
                <a:cubicBezTo>
                  <a:pt x="71438" y="174665"/>
                  <a:pt x="86171" y="191631"/>
                  <a:pt x="105995" y="194489"/>
                </a:cubicBezTo>
                <a:lnTo>
                  <a:pt x="187791" y="206186"/>
                </a:lnTo>
                <a:cubicBezTo>
                  <a:pt x="235833" y="213062"/>
                  <a:pt x="271463" y="254139"/>
                  <a:pt x="271463" y="302627"/>
                </a:cubicBezTo>
                <a:cubicBezTo>
                  <a:pt x="271463" y="356473"/>
                  <a:pt x="227796" y="400050"/>
                  <a:pt x="174040" y="400050"/>
                </a:cubicBezTo>
                <a:lnTo>
                  <a:pt x="164306" y="400050"/>
                </a:lnTo>
                <a:lnTo>
                  <a:pt x="164306" y="435769"/>
                </a:lnTo>
                <a:cubicBezTo>
                  <a:pt x="164306" y="447645"/>
                  <a:pt x="154751" y="457200"/>
                  <a:pt x="142875" y="457200"/>
                </a:cubicBezTo>
                <a:cubicBezTo>
                  <a:pt x="130999" y="457200"/>
                  <a:pt x="121444" y="447645"/>
                  <a:pt x="121444" y="435769"/>
                </a:cubicBezTo>
                <a:lnTo>
                  <a:pt x="121444" y="400050"/>
                </a:lnTo>
                <a:lnTo>
                  <a:pt x="57150" y="400050"/>
                </a:lnTo>
                <a:cubicBezTo>
                  <a:pt x="41344" y="400050"/>
                  <a:pt x="28575" y="387281"/>
                  <a:pt x="28575" y="371475"/>
                </a:cubicBezTo>
                <a:cubicBezTo>
                  <a:pt x="28575" y="355669"/>
                  <a:pt x="41344" y="342900"/>
                  <a:pt x="57150" y="342900"/>
                </a:cubicBezTo>
                <a:lnTo>
                  <a:pt x="174040" y="342900"/>
                </a:lnTo>
                <a:cubicBezTo>
                  <a:pt x="196275" y="342900"/>
                  <a:pt x="214313" y="324862"/>
                  <a:pt x="214313" y="302627"/>
                </a:cubicBezTo>
                <a:cubicBezTo>
                  <a:pt x="214313" y="282535"/>
                  <a:pt x="199579" y="265569"/>
                  <a:pt x="179755" y="262711"/>
                </a:cubicBezTo>
                <a:lnTo>
                  <a:pt x="97959" y="251014"/>
                </a:lnTo>
                <a:cubicBezTo>
                  <a:pt x="49917" y="244227"/>
                  <a:pt x="14288" y="203061"/>
                  <a:pt x="14288" y="154573"/>
                </a:cubicBezTo>
                <a:cubicBezTo>
                  <a:pt x="14288" y="100816"/>
                  <a:pt x="57954" y="57150"/>
                  <a:pt x="111710" y="57150"/>
                </a:cubicBezTo>
                <a:lnTo>
                  <a:pt x="121444" y="57150"/>
                </a:lnTo>
                <a:lnTo>
                  <a:pt x="121444" y="21431"/>
                </a:lnTo>
                <a:close/>
              </a:path>
            </a:pathLst>
          </a:custGeom>
          <a:solidFill>
            <a:srgbClr val="FFB60C"/>
          </a:solidFill>
          <a:ln/>
        </p:spPr>
      </p:sp>
      <p:sp>
        <p:nvSpPr>
          <p:cNvPr id="27" name="Text 25"/>
          <p:cNvSpPr/>
          <p:nvPr/>
        </p:nvSpPr>
        <p:spPr>
          <a:xfrm>
            <a:off x="12065000" y="4318000"/>
            <a:ext cx="292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B60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65000" y="49530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0F0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ROI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065000" y="5461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Tighter feedback loops compress cost-per-signed-case as the system matures.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jx2zziupshfo/mnt/agents/output/lucrative-legal/images/9_A_Powerful_Rocket_Launches_into_a.pn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0B1A">
                  <a:alpha val="94000"/>
                </a:srgbClr>
              </a:gs>
              <a:gs pos="40000">
                <a:srgbClr val="0D0B1A">
                  <a:alpha val="80000"/>
                </a:srgbClr>
              </a:gs>
              <a:gs pos="100000">
                <a:srgbClr val="0D0B1A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048000" y="1016000"/>
            <a:ext cx="10160000" cy="6350000"/>
          </a:xfrm>
          <a:prstGeom prst="ellipse">
            <a:avLst/>
          </a:prstGeom>
          <a:gradFill rotWithShape="1" flip="none">
            <a:gsLst>
              <a:gs pos="0">
                <a:srgbClr val="FFB60C">
                  <a:alpha val="6000"/>
                </a:srgbClr>
              </a:gs>
              <a:gs pos="100000">
                <a:srgbClr val="FFB60C">
                  <a:alpha val="0"/>
                </a:srgbClr>
              </a:gs>
            </a:gsLst>
            <a:path path="circle"/>
          </a:gra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2000" y="457200"/>
            <a:ext cx="14732000" cy="0"/>
          </a:xfrm>
          <a:prstGeom prst="straightConnector1">
            <a:avLst/>
          </a:prstGeom>
          <a:noFill/>
          <a:ln w="12700">
            <a:solidFill>
              <a:srgbClr val="2D2640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2000" y="1016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B6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1016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27000" y="101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lucrativelegal.com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2540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4800" dirty="0">
                <a:gradFill rotWithShape="1" flip="none">
                  <a:gsLst>
                    <a:gs pos="0">
                      <a:srgbClr val="FFB60C"/>
                    </a:gs>
                    <a:gs pos="100000">
                      <a:srgbClr val="F056F4"/>
                    </a:gs>
                  </a:gsLst>
                  <a:lin ang="0" scaled="1"/>
                </a:gra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 pipeline. Five surfaces. Built to compound.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83000" y="482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Lucrative Legal builds and runs the connected blueprint for law firms — across AI, ads, local search, organic, and intake.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588000" y="6223000"/>
            <a:ext cx="5080000" cy="635000"/>
          </a:xfrm>
          <a:prstGeom prst="roundRect">
            <a:avLst>
              <a:gd name="adj" fmla="val 16000"/>
            </a:avLst>
          </a:prstGeom>
          <a:gradFill rotWithShape="1" flip="none">
            <a:gsLst>
              <a:gs pos="0">
                <a:srgbClr val="FFB60C"/>
              </a:gs>
              <a:gs pos="100000">
                <a:srgbClr val="F056F4"/>
              </a:gs>
            </a:gsLst>
            <a:lin ang="0" scaled="1"/>
          </a:gradFill>
          <a:ln/>
        </p:spPr>
      </p:sp>
      <p:sp>
        <p:nvSpPr>
          <p:cNvPr id="13" name="Text 10"/>
          <p:cNvSpPr/>
          <p:nvPr/>
        </p:nvSpPr>
        <p:spPr>
          <a:xfrm>
            <a:off x="5588000" y="6223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0D0B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 LucrativeLegal.com →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53000" y="7366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spc="200" kern="0" dirty="0">
                <a:solidFill>
                  <a:srgbClr val="F056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LEADS GROUP · ROCKET FUEL FOR YOUR FIRM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Lucrative Legal — 5 Pillars of Multichannel Marketing for Attorneys</dc:title>
  <dc:subject>Lucrative Legal — 5 Pillars of Multichannel Marketing for Attorneys</dc:subject>
  <dc:creator>Kimi</dc:creator>
  <cp:lastModifiedBy>Kimi</cp:lastModifiedBy>
  <cp:revision>1</cp:revision>
  <dcterms:created xsi:type="dcterms:W3CDTF">2026-05-06T22:13:28Z</dcterms:created>
  <dcterms:modified xsi:type="dcterms:W3CDTF">2026-05-06T22:13:28Z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{"Label":"Lucrative Legal — 5 Pillars of Multichannel Marketing for Attorneys","ContentProducer":"001191110108MACG2KBH8F10000","ProduceID":"19dff57e-bac2-8e3d-8000-00005b321a1a","ReservedCode1":"","ContentPropagator":"001191110108MACG2KBH8F20000","PropagateID":"19dff57e-bac2-8e3d-8000-00005b321a1a","ReservedCode2":""}</vt:lpwstr>
  </property>
</Properties>
</file>